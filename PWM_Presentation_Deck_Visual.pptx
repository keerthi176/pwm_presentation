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Pulse Width Modulation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FB4D4"/>
                </a:solidFill>
              </a:defRPr>
            </a:pPr>
            <a:r>
              <a:t>From binary switching to analog-like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Engineering presentation covering PWM fundamentals, mathematics, hardware generation, and embedded-system usage.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Duty cycle controls average delivered power.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Frequency choice affects ripple, switching loss, acoustic behavior, and EMI.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01</a:t>
            </a:r>
          </a:p>
        </p:txBody>
      </p:sp>
      <p:pic>
        <p:nvPicPr>
          <p:cNvPr id="12" name="Picture 11" descr="visual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Engineering presentation covering PWM fundamentals, mathematics, hardware generation, and embedded-system usage.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Core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PWM approximates analog control by alternating between full ON and full OFF states.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Loads respond to average energy over each switching period.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For many practical loads, average output follows Vavg ~= Duty Cycle x Vsupply.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02</a:t>
            </a:r>
          </a:p>
        </p:txBody>
      </p:sp>
      <p:pic>
        <p:nvPicPr>
          <p:cNvPr id="11" name="Picture 10" descr="visua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PWM approximates analog control by alternating between full ON and full OFF states.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Mathematics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T = Ton + Toff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Vavg = (1 / T) integral of v(t) over one period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For an ideal PWM waveform: Vavg = Vs x (Ton / T) = Vs x D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Example: 12 V x 0.25 = 3 V average for a filtered or averaging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03</a:t>
            </a:r>
          </a:p>
        </p:txBody>
      </p:sp>
      <p:pic>
        <p:nvPicPr>
          <p:cNvPr id="11" name="Picture 10" descr="visual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T = Ton + Toff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Proof 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The DC term of a rectangular periodic waveform equals its average over one period.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That average is proportional to duty cycle: Vs x 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A low-pass filter or energy-averaging load suppresses high-frequency switching harmonics.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Observed low-frequency output therefore tracks duty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04</a:t>
            </a:r>
          </a:p>
        </p:txBody>
      </p:sp>
      <p:pic>
        <p:nvPicPr>
          <p:cNvPr id="11" name="Picture 10" descr="visual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The DC term of a rectangular periodic waveform equals its average over one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Duty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Waveform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10% duty cycle: low average energy, low LED brightness, light motor torque demand.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50% duty cycle: equal ON and OFF intervals, common demonstration case.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90% duty cycle: near-full delivery, filtered loads respond almost like a steady high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05</a:t>
            </a:r>
          </a:p>
        </p:txBody>
      </p:sp>
      <p:pic>
        <p:nvPicPr>
          <p:cNvPr id="11" name="Picture 10" descr="visual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10% duty cycle: low average energy, low LED brightness, light motor torque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Optical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LED Dimming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Brightness control is illustrated through PWM-driven LED dimming.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Average optical output changes with duty cycle even though switching remains binary.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The same example supports discussion of timer resolution, flicker, current limiting, and thermal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06</a:t>
            </a:r>
          </a:p>
        </p:txBody>
      </p:sp>
      <p:pic>
        <p:nvPicPr>
          <p:cNvPr id="11" name="Picture 10" descr="visua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Brightness control is illustrated through PWM-driven LED dimming.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Binary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LED On-Off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0% duty cycle: LED remains OFF during the full period.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50% duty cycle: LED alternates fully ON and fully OFF; human vision integrates the switching.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100% duty cycle: LED remains ON for the full period.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Apparent brightness is created by ON-time variation, not by intermediate LED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07</a:t>
            </a:r>
          </a:p>
        </p:txBody>
      </p:sp>
      <p:pic>
        <p:nvPicPr>
          <p:cNvPr id="11" name="Picture 10" descr="visua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0% duty cycle: LED remains OFF during the full period.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Motor control: duty cycle regulates average armature voltage, speed, and torque.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Switch-mode power supplies: PWM controls energy transfer in buck, boost, and inverter stages.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LED dimming: optical output tracks duty cycle while switching remains efficient.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Audio and actuation: used in class-D amplification, buzzers, and compact switching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08</a:t>
            </a:r>
          </a:p>
        </p:txBody>
      </p:sp>
      <p:pic>
        <p:nvPicPr>
          <p:cNvPr id="11" name="Picture 10" descr="visual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Motor control: duty cycle regulates average armature voltage, speed, and torque.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Signal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Generation and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Reference target is converted into a timer/counter setting.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Compare logic keeps output HIGH while counter is below threshold.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Power stage applies the switching waveform to the load.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Filtering, inertia, or energy storage turns switching into useful electrical, optical, mechanical, or acoustic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09</a:t>
            </a:r>
          </a:p>
        </p:txBody>
      </p:sp>
      <p:pic>
        <p:nvPicPr>
          <p:cNvPr id="11" name="Picture 10" descr="visua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Reference target is converted into a timer/counter setting.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Registers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MCU PWM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Timer peripherals generate PWM using prescaler, counter, auto-reload, and compare registers.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Clock division: timer_clk = fclk / (PSC + 1)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Period setup: fpwm = timer_clk / (ARR + 1)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Duty setup: duty = CCRx / (ARR + 1)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Hardware action: output remains active while CNT &lt; CCRx, then toggles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10</a:t>
            </a:r>
          </a:p>
        </p:txBody>
      </p:sp>
      <p:pic>
        <p:nvPicPr>
          <p:cNvPr id="11" name="Picture 10" descr="visual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Timer peripherals generate PWM using prescaler, counter, auto-reload, and compare registers.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5084064"/>
            <a:ext cx="288036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B84D"/>
                </a:solidFill>
                <a:latin typeface="Consolas"/>
              </a:defRPr>
            </a:pPr>
            <a:r>
              <a:t>TIMx_PSC  = 79;</a:t>
            </a:r>
          </a:p>
          <a:p>
            <a:pPr>
              <a:defRPr sz="1100">
                <a:solidFill>
                  <a:srgbClr val="FFB84D"/>
                </a:solidFill>
                <a:latin typeface="Consolas"/>
              </a:defRPr>
            </a:pPr>
            <a:r>
              <a:t>TIMx_ARR  = 999;</a:t>
            </a:r>
          </a:p>
          <a:p>
            <a:pPr>
              <a:defRPr sz="1100">
                <a:solidFill>
                  <a:srgbClr val="FFB84D"/>
                </a:solidFill>
                <a:latin typeface="Consolas"/>
              </a:defRPr>
            </a:pPr>
            <a:r>
              <a:t>TIMx_CCR1 = 250;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Embedded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Embedded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Hardware side: MCU timers, compare units, complementary PWM, dead time, DMA-fed updates.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Software side: control loops, ISRs or RTOS tasks, calibration tables, and safety clamp logic.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PWM is a hardware/software boundary where control intent becomes deterministic switching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11</a:t>
            </a:r>
          </a:p>
        </p:txBody>
      </p:sp>
      <p:pic>
        <p:nvPicPr>
          <p:cNvPr id="11" name="Picture 10" descr="visua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Hardware side: MCU timers, compare units, complementary PWM, dead time, DMA-fed updates.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Tradeoffs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Tradeoffs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Higher frequency reduces ripple but increases switching loss and EMI stress.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Higher resolution improves control granularity but increases timer constraints.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Filtering smooths output but slows response and increases component size.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Protection features improve robustness but add timing and implementation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12</a:t>
            </a:r>
          </a:p>
        </p:txBody>
      </p:sp>
      <p:pic>
        <p:nvPicPr>
          <p:cNvPr id="11" name="Picture 10" descr="visua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Higher frequency reduces ripple but increases switching loss and EMI stress.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Design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Define the load model clearly.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Choose frequency using ripple, acoustics, EMC, and switch capability.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Validate thermal behavior at worst-case duty cycle.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Review timer resolution, control-loop timing, layout, and waveform quality on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13</a:t>
            </a:r>
          </a:p>
        </p:txBody>
      </p:sp>
      <p:pic>
        <p:nvPicPr>
          <p:cNvPr id="11" name="Picture 10" descr="visu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Define the load model clearly.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AF2FF"/>
                </a:solidFill>
              </a:defRPr>
            </a:pPr>
            <a:r>
              <a:t>Closing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6537960" cy="4251960"/>
          </a:xfrm>
          <a:prstGeom prst="roundRect">
            <a:avLst/>
          </a:prstGeom>
          <a:solidFill>
            <a:srgbClr val="12263F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5989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PWM is simple in principle and demanding in implementation.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It remains one of the most useful techniques in embedded systems and power electronics.</a:t>
            </a:r>
          </a:p>
          <a:p>
            <a:pPr>
              <a:spcAft>
                <a:spcPts val="1000"/>
              </a:spcAft>
              <a:defRPr sz="1900">
                <a:solidFill>
                  <a:srgbClr val="EAF2FF"/>
                </a:solidFill>
              </a:defRPr>
            </a:pPr>
            <a:r>
              <a:t>The core value lies in turning timing control into efficient energy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83080"/>
            <a:ext cx="4069080" cy="4480560"/>
          </a:xfrm>
          <a:prstGeom prst="roundRect">
            <a:avLst/>
          </a:prstGeom>
          <a:solidFill>
            <a:srgbClr val="12263F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19933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DD3FC"/>
                </a:solidFill>
              </a:defRPr>
            </a:pPr>
            <a:r>
              <a:t>Figure 14</a:t>
            </a:r>
          </a:p>
        </p:txBody>
      </p:sp>
      <p:pic>
        <p:nvPicPr>
          <p:cNvPr id="11" name="Picture 10" descr="visua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304288"/>
            <a:ext cx="3337560" cy="2487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956048"/>
            <a:ext cx="3337560" cy="960120"/>
          </a:xfrm>
          <a:prstGeom prst="roundRect">
            <a:avLst/>
          </a:prstGeom>
          <a:solidFill>
            <a:srgbClr val="0A1525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9FB4D4"/>
                </a:solidFill>
              </a:defRPr>
            </a:pPr>
            <a:r>
              <a:t>PWM is simple in principle and demanding in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1C2F2-0D93-D90B-E173-80706976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A44E71-A379-D791-568C-807C26F91AB8}"/>
              </a:ext>
            </a:extLst>
          </p:cNvPr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FC5344-0456-78D9-404A-A60F8B063853}"/>
              </a:ext>
            </a:extLst>
          </p:cNvPr>
          <p:cNvSpPr/>
          <p:nvPr/>
        </p:nvSpPr>
        <p:spPr>
          <a:xfrm>
            <a:off x="9875520" y="-365760"/>
            <a:ext cx="2926080" cy="1828800"/>
          </a:xfrm>
          <a:prstGeom prst="ellipse">
            <a:avLst/>
          </a:prstGeom>
          <a:solidFill>
            <a:srgbClr val="14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8B962A-A86C-8382-030D-20DA0B7F6FE2}"/>
              </a:ext>
            </a:extLst>
          </p:cNvPr>
          <p:cNvSpPr/>
          <p:nvPr/>
        </p:nvSpPr>
        <p:spPr>
          <a:xfrm>
            <a:off x="-640080" y="4937760"/>
            <a:ext cx="2560320" cy="1920240"/>
          </a:xfrm>
          <a:prstGeom prst="ellipse">
            <a:avLst/>
          </a:prstGeom>
          <a:solidFill>
            <a:srgbClr val="22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B53287-F665-946C-B7B4-5FC02BA88776}"/>
              </a:ext>
            </a:extLst>
          </p:cNvPr>
          <p:cNvSpPr/>
          <p:nvPr/>
        </p:nvSpPr>
        <p:spPr>
          <a:xfrm>
            <a:off x="658368" y="658368"/>
            <a:ext cx="1463040" cy="310896"/>
          </a:xfrm>
          <a:prstGeom prst="round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11F"/>
                </a:solidFill>
              </a:defRPr>
            </a:pPr>
            <a: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E785F-F1D7-3402-3628-0E23B8AF8B6C}"/>
              </a:ext>
            </a:extLst>
          </p:cNvPr>
          <p:cNvSpPr txBox="1"/>
          <p:nvPr/>
        </p:nvSpPr>
        <p:spPr>
          <a:xfrm>
            <a:off x="640080" y="1005840"/>
            <a:ext cx="949105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F2FF"/>
                </a:solidFill>
              </a:defRPr>
            </a:pPr>
            <a:r>
              <a:rPr lang="en-IN" sz="4400" dirty="0"/>
              <a:t>Thank</a:t>
            </a:r>
            <a:r>
              <a:rPr lang="en-IN" dirty="0"/>
              <a:t> </a:t>
            </a:r>
            <a:r>
              <a:rPr lang="en-IN" sz="4400" dirty="0"/>
              <a:t>You</a:t>
            </a:r>
            <a:r>
              <a:rPr lang="en-IN" dirty="0"/>
              <a:t> </a:t>
            </a:r>
          </a:p>
          <a:p>
            <a:pPr algn="ctr">
              <a:defRPr sz="2800" b="1">
                <a:solidFill>
                  <a:srgbClr val="EAF2FF"/>
                </a:solidFill>
              </a:defRPr>
            </a:pPr>
            <a:endParaRPr lang="en-IN" dirty="0"/>
          </a:p>
          <a:p>
            <a:pPr algn="ctr">
              <a:defRPr sz="2800" b="1">
                <a:solidFill>
                  <a:srgbClr val="EAF2FF"/>
                </a:solidFill>
              </a:defRPr>
            </a:pPr>
            <a:r>
              <a:rPr lang="en-IN" dirty="0"/>
              <a:t>Presented by </a:t>
            </a:r>
          </a:p>
          <a:p>
            <a:pPr algn="ctr">
              <a:defRPr sz="2800" b="1">
                <a:solidFill>
                  <a:srgbClr val="EAF2FF"/>
                </a:solidFill>
              </a:defRPr>
            </a:pPr>
            <a:endParaRPr lang="en-IN" dirty="0"/>
          </a:p>
          <a:p>
            <a:pPr algn="ctr">
              <a:defRPr sz="2800" b="1">
                <a:solidFill>
                  <a:srgbClr val="EAF2FF"/>
                </a:solidFill>
              </a:defRPr>
            </a:pPr>
            <a:r>
              <a:rPr lang="en-IN" dirty="0"/>
              <a:t>- Keerthi Mallesh </a:t>
            </a:r>
          </a:p>
          <a:p>
            <a:pPr>
              <a:defRPr sz="2800" b="1">
                <a:solidFill>
                  <a:srgbClr val="EAF2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6464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970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Keerthi Mallesh</cp:lastModifiedBy>
  <cp:revision>2</cp:revision>
  <dcterms:created xsi:type="dcterms:W3CDTF">2013-01-27T09:14:16Z</dcterms:created>
  <dcterms:modified xsi:type="dcterms:W3CDTF">2026-03-15T10:25:21Z</dcterms:modified>
  <cp:category/>
</cp:coreProperties>
</file>